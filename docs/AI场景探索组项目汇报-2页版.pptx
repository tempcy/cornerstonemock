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4.png"/><Relationship Id="rId27" Type="http://schemas.openxmlformats.org/officeDocument/2006/relationships/image" Target="../media/image3.png"/><Relationship Id="rId26" Type="http://schemas.openxmlformats.org/officeDocument/2006/relationships/image" Target="../media/image2.png"/><Relationship Id="rId25" Type="http://schemas.openxmlformats.org/officeDocument/2006/relationships/image" Target="../media/image1.jpe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411480"/>
            <a:ext cx="749808" cy="164592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676656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10896"/>
            <a:ext cx="29260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50" dirty="0"/>
              <a:t>LECO</a:t>
            </a:r>
            <a:r>
              <a:rPr lang="zh-CN" altLang="en-US" sz="850" dirty="0"/>
              <a:t>气体分析仪器</a:t>
            </a:r>
            <a:r>
              <a:rPr lang="en-US" altLang="zh-CN" sz="850" dirty="0"/>
              <a:t>AI</a:t>
            </a:r>
            <a:r>
              <a:rPr lang="zh-CN" altLang="en-US" sz="850" dirty="0"/>
              <a:t>赋能远程运维系统</a:t>
            </a:r>
            <a:endParaRPr lang="zh-CN" alt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课题背景、目标与技术实现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088136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围绕 LECO 气体分析仪器远程运维场景，构建“稳定通信 + AI 诊断 + 自动处置”的智能化能力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627632"/>
            <a:ext cx="274320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3794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课题背景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22860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212848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传统运维依赖人工现场或远程手动操作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04672" y="25146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41448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效率低、响应慢、故障预判能力弱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804672" y="27432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670048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引入 AI 提升主动运维与智能诊断水平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584448" y="1627632"/>
            <a:ext cx="28803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183794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课题目标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22192" y="22860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2212848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稳定 TCP/HTTP 通信与指令下发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822192" y="25146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5072" y="2441448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异常检测、故障预警、趋势预测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822192" y="27432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2670048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形成“远程控制 + 智能分析 + 自动处置”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711696" y="1627632"/>
            <a:ext cx="4892040" cy="1335024"/>
          </a:xfrm>
          <a:prstGeom prst="roundRect">
            <a:avLst>
              <a:gd name="adj" fmla="val 547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1828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技术实现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04304" y="2212848"/>
            <a:ext cx="41605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仪器侧（Bridge / Web / Queue / CLI → 仪器）已基本实现；</a:t>
            </a:r>
            <a:endParaRPr lang="en-US" sz="88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扩展为各实验室部署 CornerstoneAgent，公司内网部署仪器智能体与知识库，支撑对话查询与运维知识检索。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66928" y="3246120"/>
            <a:ext cx="1101852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49300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技术架构图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8680" y="3813048"/>
            <a:ext cx="4709160" cy="1481328"/>
          </a:xfrm>
          <a:prstGeom prst="roundRect">
            <a:avLst>
              <a:gd name="adj" fmla="val 30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3977640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公司内网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24712" y="4315968"/>
            <a:ext cx="12344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16152" y="4389120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宝武聊天 / 运维入口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743200" y="4315968"/>
            <a:ext cx="1060704" cy="475488"/>
          </a:xfrm>
          <a:prstGeom prst="roundRect">
            <a:avLst>
              <a:gd name="adj" fmla="val 11538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834640" y="438912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仪器智能体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187952" y="405993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79392" y="4133088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仪器知识库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187952" y="4718304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279392" y="479145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公司大模型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359152" y="4553712"/>
            <a:ext cx="38404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3804285" y="4271010"/>
            <a:ext cx="389890" cy="210185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15715" y="4645025"/>
            <a:ext cx="372110" cy="26543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29400" y="3813048"/>
            <a:ext cx="4041648" cy="1481328"/>
          </a:xfrm>
          <a:prstGeom prst="roundRect">
            <a:avLst>
              <a:gd name="adj" fmla="val 308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977640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各实验室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4407408"/>
            <a:ext cx="1280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95160" y="44805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CornerstoneAgent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8439912" y="4315968"/>
            <a:ext cx="1170432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531352" y="4389120"/>
            <a:ext cx="987552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Bridge · Web · Queue · CLI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（已实现）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9930384" y="4407408"/>
            <a:ext cx="594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021824" y="4480560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LECO 气体分析仪器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8183880" y="4645152"/>
            <a:ext cx="256032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610344" y="4645152"/>
            <a:ext cx="32004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577840" y="4572000"/>
            <a:ext cx="105156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577840" y="427939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59E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任务 · 对话 · 采集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841248" y="574243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统一协议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1248" y="597103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TCP/XML + Bridge REST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>
            <a:off x="3493008" y="574243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分层部署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493008" y="597103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仪器侧 + 边缘 Agent + 公司内网</a:t>
            </a:r>
            <a:endParaRPr lang="en-US" sz="660" dirty="0"/>
          </a:p>
        </p:txBody>
      </p:sp>
      <p:sp>
        <p:nvSpPr>
          <p:cNvPr id="59" name="Text 57"/>
          <p:cNvSpPr/>
          <p:nvPr/>
        </p:nvSpPr>
        <p:spPr>
          <a:xfrm>
            <a:off x="6144768" y="574243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REST 能力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44768" y="597103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Bridge REST；Web /api 反代</a:t>
            </a:r>
            <a:endParaRPr lang="en-US" sz="660" dirty="0"/>
          </a:p>
        </p:txBody>
      </p:sp>
      <p:sp>
        <p:nvSpPr>
          <p:cNvPr id="61" name="Text 59"/>
          <p:cNvSpPr/>
          <p:nvPr/>
        </p:nvSpPr>
        <p:spPr>
          <a:xfrm>
            <a:off x="8796528" y="5742432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AI 扩展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796528" y="597103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Agent + 智能体 + 知识库 + 大模型</a:t>
            </a:r>
            <a:endParaRPr lang="en-US" sz="660" dirty="0"/>
          </a:p>
        </p:txBody>
      </p:sp>
      <p:sp>
        <p:nvSpPr>
          <p:cNvPr id="6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411480"/>
            <a:ext cx="749808" cy="164592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676656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10896"/>
            <a:ext cx="29260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50" dirty="0"/>
              <a:t>LECO</a:t>
            </a:r>
            <a:r>
              <a:rPr lang="zh-CN" altLang="en-US" sz="850" dirty="0"/>
              <a:t>气体分析仪器</a:t>
            </a:r>
            <a:r>
              <a:rPr lang="en-US" altLang="zh-CN" sz="850" dirty="0"/>
              <a:t>AI</a:t>
            </a:r>
            <a:r>
              <a:rPr lang="zh-CN" altLang="en-US" sz="850" dirty="0"/>
              <a:t>赋能远程运维系统</a:t>
            </a:r>
            <a:endParaRPr lang="zh-CN" alt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项目进展及效果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21208" y="1088136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远程控制底座与多入口已落地，当前聚焦大模型对接与对话式查询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0972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914400" y="206654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1005840" y="2139696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 0-1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仪器侧通信底座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Bridge · Web · CLI</a:t>
            </a:r>
            <a:endParaRPr lang="en-US" sz="800" b="1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3"/>
            </p:custDataLst>
          </p:nvPr>
        </p:nvSpPr>
        <p:spPr>
          <a:xfrm>
            <a:off x="1243584" y="1700784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316736" y="1769364"/>
            <a:ext cx="630936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已实现</a:t>
            </a:r>
            <a:endParaRPr lang="en-US" sz="820" dirty="0"/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2359152" y="2313432"/>
            <a:ext cx="630936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2990088" y="206654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3081528" y="2139696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 1b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Queue 试样缓存</a:t>
            </a:r>
            <a:endParaRPr lang="en-US" sz="800" dirty="0"/>
          </a:p>
        </p:txBody>
      </p:sp>
      <p:sp>
        <p:nvSpPr>
          <p:cNvPr id="17" name="Shape 15"/>
          <p:cNvSpPr/>
          <p:nvPr>
            <p:custDataLst>
              <p:tags r:id="rId8"/>
            </p:custDataLst>
          </p:nvPr>
        </p:nvSpPr>
        <p:spPr>
          <a:xfrm>
            <a:off x="3319272" y="1700784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3392424" y="1769364"/>
            <a:ext cx="630936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B98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已实现</a:t>
            </a:r>
            <a:endParaRPr lang="en-US" sz="820" dirty="0"/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4434840" y="2313432"/>
            <a:ext cx="630936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>
            <p:custDataLst>
              <p:tags r:id="rId11"/>
            </p:custDataLst>
          </p:nvPr>
        </p:nvSpPr>
        <p:spPr>
          <a:xfrm>
            <a:off x="5065776" y="206654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5157216" y="2139696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边缘 CornerstoneAgent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采集 · 规则 · 信息窗口</a:t>
            </a:r>
            <a:endParaRPr lang="en-US" sz="800" b="1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5394960" y="1700784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5468112" y="1769364"/>
            <a:ext cx="630936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规划中</a:t>
            </a:r>
            <a:endParaRPr lang="en-US" sz="820" dirty="0"/>
          </a:p>
        </p:txBody>
      </p:sp>
      <p:sp>
        <p:nvSpPr>
          <p:cNvPr id="24" name="Shape 22"/>
          <p:cNvSpPr/>
          <p:nvPr>
            <p:custDataLst>
              <p:tags r:id="rId15"/>
            </p:custDataLst>
          </p:nvPr>
        </p:nvSpPr>
        <p:spPr>
          <a:xfrm>
            <a:off x="6510528" y="2313432"/>
            <a:ext cx="6309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>
            <p:custDataLst>
              <p:tags r:id="rId16"/>
            </p:custDataLst>
          </p:nvPr>
        </p:nvSpPr>
        <p:spPr>
          <a:xfrm>
            <a:off x="7141464" y="206654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6" name="Text 24"/>
          <p:cNvSpPr/>
          <p:nvPr>
            <p:custDataLst>
              <p:tags r:id="rId17"/>
            </p:custDataLst>
          </p:nvPr>
        </p:nvSpPr>
        <p:spPr>
          <a:xfrm>
            <a:off x="7232904" y="2139696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公司内网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智能体 · 知识库 · 大模型</a:t>
            </a:r>
            <a:endParaRPr lang="en-US" sz="800" b="1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27" name="Shape 25"/>
          <p:cNvSpPr/>
          <p:nvPr>
            <p:custDataLst>
              <p:tags r:id="rId18"/>
            </p:custDataLst>
          </p:nvPr>
        </p:nvSpPr>
        <p:spPr>
          <a:xfrm>
            <a:off x="7470648" y="1700784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19"/>
            </p:custDataLst>
          </p:nvPr>
        </p:nvSpPr>
        <p:spPr>
          <a:xfrm>
            <a:off x="7543800" y="1769364"/>
            <a:ext cx="630936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对接中</a:t>
            </a:r>
            <a:endParaRPr lang="en-US" sz="820" dirty="0"/>
          </a:p>
        </p:txBody>
      </p:sp>
      <p:sp>
        <p:nvSpPr>
          <p:cNvPr id="29" name="Shape 27"/>
          <p:cNvSpPr/>
          <p:nvPr>
            <p:custDataLst>
              <p:tags r:id="rId20"/>
            </p:custDataLst>
          </p:nvPr>
        </p:nvSpPr>
        <p:spPr>
          <a:xfrm>
            <a:off x="8586216" y="2313432"/>
            <a:ext cx="63093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>
            <p:custDataLst>
              <p:tags r:id="rId21"/>
            </p:custDataLst>
          </p:nvPr>
        </p:nvSpPr>
        <p:spPr>
          <a:xfrm>
            <a:off x="9217152" y="2066544"/>
            <a:ext cx="1444752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31" name="Text 29"/>
          <p:cNvSpPr/>
          <p:nvPr>
            <p:custDataLst>
              <p:tags r:id="rId22"/>
            </p:custDataLst>
          </p:nvPr>
        </p:nvSpPr>
        <p:spPr>
          <a:xfrm>
            <a:off x="9308592" y="2139696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远期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北向 Modbus / MQTT</a:t>
            </a:r>
            <a:endParaRPr lang="en-US" sz="800" dirty="0"/>
          </a:p>
        </p:txBody>
      </p:sp>
      <p:sp>
        <p:nvSpPr>
          <p:cNvPr id="32" name="Shape 30"/>
          <p:cNvSpPr/>
          <p:nvPr>
            <p:custDataLst>
              <p:tags r:id="rId23"/>
            </p:custDataLst>
          </p:nvPr>
        </p:nvSpPr>
        <p:spPr>
          <a:xfrm>
            <a:off x="9546336" y="1700784"/>
            <a:ext cx="777240" cy="301752"/>
          </a:xfrm>
          <a:prstGeom prst="roundRect">
            <a:avLst>
              <a:gd name="adj" fmla="val 2424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24"/>
            </p:custDataLst>
          </p:nvPr>
        </p:nvSpPr>
        <p:spPr>
          <a:xfrm>
            <a:off x="9619488" y="1769364"/>
            <a:ext cx="630936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暂缓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21792" y="3072384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786384" y="4809744"/>
            <a:ext cx="30540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Bridge</a:t>
            </a:r>
            <a:r>
              <a:rPr lang="zh-CN" altLang="en-US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控制台</a:t>
            </a:r>
            <a:r>
              <a:rPr lang="en-US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 · </a:t>
            </a:r>
            <a:r>
              <a:rPr lang="zh-CN" altLang="en-US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接管仪器连接</a:t>
            </a:r>
            <a:r>
              <a:rPr lang="en-US" altLang="zh-CN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 </a:t>
            </a:r>
            <a:r>
              <a:rPr lang="en-US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Queue 悬浮窗 · 试样代码缓存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4187952" y="3072384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pic>
        <p:nvPicPr>
          <p:cNvPr id="39" name="Image 1" descr="d:\work\CornerstoneMock\docs\report-assets\we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1995" y="3140710"/>
            <a:ext cx="2602230" cy="1463675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352544" y="4645152"/>
            <a:ext cx="3054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控制端：</a:t>
            </a:r>
            <a:r>
              <a:rPr lang="zh-CN" altLang="en-US" sz="85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</a:t>
            </a:r>
            <a:r>
              <a:rPr lang="en-US" sz="85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分析与管理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4352544" y="4809744"/>
            <a:ext cx="3054096" cy="100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Web 分析页 · 数据与状态查询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7772400" y="3072384"/>
            <a:ext cx="376732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8010144" y="331012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已完成 · 基础能力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8028432" y="374904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211312" y="3675888"/>
            <a:ext cx="29077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Bridge / Web 分包与配置拆分</a:t>
            </a:r>
            <a:endParaRPr lang="en-US" sz="820" dirty="0"/>
          </a:p>
        </p:txBody>
      </p:sp>
      <p:sp>
        <p:nvSpPr>
          <p:cNvPr id="46" name="Shape 42"/>
          <p:cNvSpPr/>
          <p:nvPr/>
        </p:nvSpPr>
        <p:spPr>
          <a:xfrm>
            <a:off x="8028432" y="397764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211312" y="3904488"/>
            <a:ext cx="29077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TCP 网关 + REST + XML 解析</a:t>
            </a:r>
            <a:endParaRPr lang="en-US" sz="820" dirty="0"/>
          </a:p>
        </p:txBody>
      </p:sp>
      <p:sp>
        <p:nvSpPr>
          <p:cNvPr id="48" name="Shape 44"/>
          <p:cNvSpPr/>
          <p:nvPr/>
        </p:nvSpPr>
        <p:spPr>
          <a:xfrm>
            <a:off x="8028432" y="420624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211312" y="4133088"/>
            <a:ext cx="29077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Bridge 控制台、Web 分析页</a:t>
            </a:r>
            <a:endParaRPr lang="en-US" sz="820" dirty="0"/>
          </a:p>
        </p:txBody>
      </p:sp>
      <p:sp>
        <p:nvSpPr>
          <p:cNvPr id="50" name="Shape 46"/>
          <p:cNvSpPr/>
          <p:nvPr/>
        </p:nvSpPr>
        <p:spPr>
          <a:xfrm>
            <a:off x="8028432" y="443484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59" name="Picture 6" descr="c__Users_Administrator_AppData_Roaming_Cursor_User_workspaceStorage_0e7e36727f566c263d4b2e6d5be7c3e7_images_image-7b8bfa31-4cb0-4098-8030-6ca5724b1141.png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2230120" y="3165475"/>
            <a:ext cx="1287145" cy="148971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211312" y="4361688"/>
            <a:ext cx="290779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Queue 悬浮窗与在线管理</a:t>
            </a:r>
            <a:endParaRPr lang="en-US" sz="820" dirty="0"/>
          </a:p>
        </p:txBody>
      </p:sp>
      <p:sp>
        <p:nvSpPr>
          <p:cNvPr id="52" name="Shape 48"/>
          <p:cNvSpPr/>
          <p:nvPr/>
        </p:nvSpPr>
        <p:spPr>
          <a:xfrm>
            <a:off x="621792" y="52120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868680" y="5449824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当前目标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1993265" y="5330190"/>
            <a:ext cx="3429000" cy="63246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学习了解公司大模型</a:t>
            </a:r>
            <a:r>
              <a:rPr lang="zh-CN" alt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平台使用；</a:t>
            </a:r>
            <a:endParaRPr lang="zh-CN" altLang="en-US" sz="100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搭建测试环境，</a:t>
            </a:r>
            <a:r>
              <a:rPr 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争取打通网络环境；</a:t>
            </a:r>
            <a:endParaRPr lang="en-US" sz="100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55" name="Shape 51"/>
          <p:cNvSpPr/>
          <p:nvPr/>
        </p:nvSpPr>
        <p:spPr>
          <a:xfrm>
            <a:off x="6080760" y="52120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</p:sp>
      <p:sp>
        <p:nvSpPr>
          <p:cNvPr id="56" name="Text 52"/>
          <p:cNvSpPr/>
          <p:nvPr/>
        </p:nvSpPr>
        <p:spPr>
          <a:xfrm>
            <a:off x="6355080" y="5449824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后续计划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7498080" y="5330825"/>
            <a:ext cx="3493135" cy="6318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跑通对话查询分析结果与仪器状态</a:t>
            </a:r>
            <a:r>
              <a:rPr lang="zh-CN" alt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；</a:t>
            </a:r>
            <a:endParaRPr lang="en-US" sz="100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探索对话功能集成到宝武聊天；</a:t>
            </a:r>
            <a:endParaRPr lang="en-US" sz="100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建立说明书、图纸、应用文档、维修经验等仪器知识库</a:t>
            </a:r>
            <a:r>
              <a:rPr lang="zh-CN" altLang="en-US" sz="1000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；</a:t>
            </a:r>
            <a:endParaRPr lang="zh-CN" altLang="en-US" sz="1000" dirty="0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86384" y="4645787"/>
            <a:ext cx="30540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85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仪器侧：多重连接和</a:t>
            </a:r>
            <a:r>
              <a:rPr lang="en-US" sz="850" b="1" dirty="0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样品队列</a:t>
            </a:r>
            <a:endParaRPr lang="en-US" sz="850" dirty="0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0120" y="3780790"/>
            <a:ext cx="1229995" cy="8013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Image 0" descr="d:\work\CornerstoneMock\docs\report-assets\queu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23950" y="3259455"/>
            <a:ext cx="1016000" cy="7181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2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3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4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5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6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7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8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9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0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1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2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3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4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5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6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7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8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19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20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21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22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23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ags/tag24.xml><?xml version="1.0" encoding="utf-8"?>
<p:tagLst xmlns:p="http://schemas.openxmlformats.org/presentationml/2006/main">
  <p:tag name="KSO_WM_DIAGRAM_VIRTUALLY_FRAME" val="{&quot;height&quot;:66.24000000000005,&quot;left&quot;:72,&quot;top&quot;:133.92000000000002,&quot;width&quot;:767.51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</Words>
  <Application>WPS 演示</Application>
  <PresentationFormat>On-screen Show (16:9)</PresentationFormat>
  <Paragraphs>134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Microsoft YaHei</vt:lpstr>
      <vt:lpstr>Microsoft YaHei</vt:lpstr>
      <vt:lpstr>Arial</vt:lpstr>
      <vt:lpstr>Arial Unicode MS</vt:lpstr>
      <vt:lpstr>DengXian</vt:lpstr>
      <vt:lpstr>Office Theme</vt:lpstr>
      <vt:lpstr>PowerPoint 演示文稿</vt:lpstr>
      <vt:lpstr>PowerPoint 演示文稿</vt:lpstr>
    </vt:vector>
  </TitlesOfParts>
  <Company>Cornerstone Remote Control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LECO气体分析仪器AI赋能远程运维系统</dc:title>
  <dc:creator>TRAE</dc:creator>
  <dc:subject>LECO气体分析仪器AI赋能远程运维系统</dc:subject>
  <cp:lastModifiedBy>浦辰雨</cp:lastModifiedBy>
  <cp:revision>5</cp:revision>
  <dcterms:created xsi:type="dcterms:W3CDTF">2026-07-12T01:42:00Z</dcterms:created>
  <dcterms:modified xsi:type="dcterms:W3CDTF">2026-07-12T02:30:58Z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780B0B67F9454F70BF0340E348C08DEE_12</vt:lpwstr>
  </property>
  <property fmtid="{D5CDD505-2E9C-101B-9397-08002B2CF9AE}" pid="3" name="KSOProductBuildVer">
    <vt:lpwstr>2052-12.1.0.26895</vt:lpwstr>
  </property>
</Properties>
</file>