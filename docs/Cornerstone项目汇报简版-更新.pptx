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Cornerstone Remote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F4E79"/>
                </a:solidFill>
              </a:defRPr>
            </a:pPr>
            <a:r>
              <a:t>课题背景、目标与技术实现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42415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围绕 LECO 气体分析仪器远程运维场景，构建「稳定通信 + AI 诊断 + 自动处置」的智能化能力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72768"/>
            <a:ext cx="5486400" cy="1417320"/>
          </a:xfrm>
          <a:prstGeom prst="rect">
            <a:avLst/>
          </a:prstGeom>
          <a:solidFill>
            <a:srgbClr val="F5F8FC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4E79"/>
                </a:solidFill>
              </a:defRPr>
            </a:pPr>
            <a:r>
              <a:t>一、课题背景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LECO 气体分析仪器广泛应用于工业检测场景，传统运维依赖人工现场或远程手动操作。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现有模式存在效率低、响应慢、故障预判能力弱等问题。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在已具备基础远程控制能力的基础上，亟需引入 AI 提升主动运维、智能诊断与高效管控水平。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572768"/>
            <a:ext cx="5669280" cy="1417320"/>
          </a:xfrm>
          <a:prstGeom prst="rect">
            <a:avLst/>
          </a:prstGeom>
          <a:solidFill>
            <a:srgbClr val="F5F8FC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64208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4E79"/>
                </a:solidFill>
              </a:defRPr>
            </a:pPr>
            <a:r>
              <a:t>二、课题目标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1) 数据通信能力：稳定运行 TCP/HTTP 远程通信、指令下发、样品登录、状态查询、网关转发与 Web 管理界面。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2) AI 能力落地：基于仪器状态、日志、环境数据，实现异常智能检测、故障自动预警、运行趋势预测。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3) 效率提升：形成「远程控制 + 智能分析 + 自动处置」一体化运维能力。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8036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仪器侧（Bridge / Web / Queue / CLI → 仪器）已基本实现；扩展为各实验室部署 CornerstoneAgent，公司内网部署仪器智能体与知识库。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06324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</a:defRPr>
            </a:pPr>
            <a:r>
              <a:t>技术架构图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246120"/>
            <a:ext cx="11338560" cy="960120"/>
          </a:xfrm>
          <a:prstGeom prst="rect">
            <a:avLst/>
          </a:prstGeom>
          <a:solidFill>
            <a:srgbClr val="E8F0F8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E75B6"/>
                </a:solidFill>
              </a:defRPr>
            </a:pPr>
            <a:r>
              <a:t>公司内网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3502152"/>
            <a:ext cx="1691640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宝武聊天</a:t>
            </a:r>
            <a:br/>
            <a:r>
              <a:t>/ 运维入口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3502152"/>
            <a:ext cx="1691640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仪器智能体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502152"/>
            <a:ext cx="1691640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公司大模型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3502152"/>
            <a:ext cx="1691640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仪器知识库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37560" y="3831336"/>
            <a:ext cx="77724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06440" y="3831336"/>
            <a:ext cx="77724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75320" y="3831336"/>
            <a:ext cx="77724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11480" y="4434840"/>
            <a:ext cx="11338560" cy="960120"/>
          </a:xfrm>
          <a:prstGeom prst="rect">
            <a:avLst/>
          </a:prstGeom>
          <a:solidFill>
            <a:srgbClr val="F0F8F0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480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0AD47"/>
                </a:solidFill>
              </a:defRPr>
            </a:pPr>
            <a:r>
              <a:t>各实验室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4690872"/>
            <a:ext cx="2194560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CornerstoneAgent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4690872"/>
            <a:ext cx="2377440" cy="65836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Bridge · Web · Queue · CLI</a:t>
            </a:r>
            <a:br/>
            <a:r>
              <a:t>（已实现）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4690872"/>
            <a:ext cx="2194560" cy="6583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LECO 气体分析仪器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06240" y="5020056"/>
            <a:ext cx="54864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32320" y="5020056"/>
            <a:ext cx="91440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108960" y="4160520"/>
            <a:ext cx="1828800" cy="530352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474720" y="41605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任务 · 对话 · 采集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532120"/>
            <a:ext cx="269748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统一协议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925312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TCP/XML + Bridge REST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5532120"/>
            <a:ext cx="269748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分层部署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5925312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仪器侧 + 边缘 Agent + 公司内网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5532120"/>
            <a:ext cx="269748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REST 能力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5925312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Bridge REST；Web /api 反代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5532120"/>
            <a:ext cx="269748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 扩展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5925312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Agent + 智能体 + 知识库 + 大模型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30936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仪器侧通信底座已基本实现；边缘 Agent 负责采集与规则；公司内网智能体与知识库提供对话查询与知识增强。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Cornerstone Remote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F4E79"/>
                </a:solidFill>
              </a:defRPr>
            </a:pPr>
            <a:r>
              <a:t>项目进展及效果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42415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远程控制底座与多入口已落地，当前聚焦大模型对接与对话式查询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</a:defRPr>
            </a:pPr>
            <a:r>
              <a:t>进展流程图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74519"/>
            <a:ext cx="2148840" cy="8686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阶段 0-1</a:t>
            </a:r>
            <a:br/>
            <a:r>
              <a:t>仪器侧通信底座</a:t>
            </a:r>
            <a:br/>
            <a:r>
              <a:t>Bridge · Web · CLI</a:t>
            </a:r>
            <a:br/>
            <a:r>
              <a:t>✅ 已实现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308859"/>
            <a:ext cx="109728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70048" y="1874519"/>
            <a:ext cx="2148840" cy="8686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阶段 1b</a:t>
            </a:r>
            <a:br/>
            <a:r>
              <a:t>Queue 试样缓存</a:t>
            </a:r>
            <a:br/>
            <a:r>
              <a:t>✅ 已实现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18888" y="2308859"/>
            <a:ext cx="109728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28616" y="1874519"/>
            <a:ext cx="214884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阶段 2</a:t>
            </a:r>
            <a:br/>
            <a:r>
              <a:t>边缘 CornerstoneAgent</a:t>
            </a:r>
            <a:br/>
            <a:r>
              <a:t>采集 · 规则 · 信息窗口</a:t>
            </a:r>
            <a:br/>
            <a:r>
              <a:t>⏳ 规划中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77456" y="2308859"/>
            <a:ext cx="109728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187184" y="1874519"/>
            <a:ext cx="2148840" cy="8686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阶段 3</a:t>
            </a:r>
            <a:br/>
            <a:r>
              <a:t>公司内网</a:t>
            </a:r>
            <a:br/>
            <a:r>
              <a:t>智能体 · 知识库 · 大模型</a:t>
            </a:r>
            <a:br/>
            <a:r>
              <a:t>⏳ 对接中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36024" y="2308859"/>
            <a:ext cx="109728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445752" y="1874519"/>
            <a:ext cx="2148840" cy="8686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远期</a:t>
            </a:r>
            <a:br/>
            <a:r>
              <a:t>北向 Modbus / MQTT</a:t>
            </a:r>
            <a:br/>
            <a:r>
              <a:t>📋 暂缓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80360"/>
            <a:ext cx="5440680" cy="1737360"/>
          </a:xfrm>
          <a:prstGeom prst="rect">
            <a:avLst/>
          </a:prstGeom>
          <a:solidFill>
            <a:srgbClr val="F5F8FC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953512"/>
            <a:ext cx="5294376" cy="1417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4389120"/>
            <a:ext cx="5440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E75B6"/>
                </a:solidFill>
              </a:defRPr>
            </a:pPr>
            <a:r>
              <a:t>Queue 悬浮窗 · 试样代码缓存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880360"/>
            <a:ext cx="5440680" cy="1737360"/>
          </a:xfrm>
          <a:prstGeom prst="rect">
            <a:avLst/>
          </a:prstGeom>
          <a:solidFill>
            <a:srgbClr val="F5F8FC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w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953512"/>
            <a:ext cx="5294376" cy="1417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72200" y="4389120"/>
            <a:ext cx="5440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E75B6"/>
                </a:solidFill>
              </a:defRPr>
            </a:pPr>
            <a:r>
              <a:t>Web 分析页 · 数据与状态查询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709160"/>
            <a:ext cx="3611880" cy="1920240"/>
          </a:xfrm>
          <a:prstGeom prst="rect">
            <a:avLst/>
          </a:prstGeom>
          <a:solidFill>
            <a:srgbClr val="F5F8FC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4800600"/>
            <a:ext cx="33924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4E79"/>
                </a:solidFill>
              </a:defRPr>
            </a:pPr>
            <a:r>
              <a:t>已完成 · 基础能力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Bridge / Web 分包与配置拆分，TCP 网关 + REST + XML 解析；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Bridge 控制台、Web 分析页（ECharts 谱图与数据查询）；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Queue 悬浮窗：试样代码手动缓存、Bridge 在线管理与发送；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仪器锁定自动状态下，Web 可查询分析结果与仪器状态。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4709160"/>
            <a:ext cx="3611880" cy="1920240"/>
          </a:xfrm>
          <a:prstGeom prst="rect">
            <a:avLst/>
          </a:prstGeom>
          <a:solidFill>
            <a:srgbClr val="E8F5E9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4800600"/>
            <a:ext cx="33924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761D"/>
                </a:solidFill>
              </a:defRPr>
            </a:pPr>
            <a:r>
              <a:t>当前目标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学习了解公司大模型，争取打通网络环境；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跑通基本业务逻辑：对话查询分析结果数据与仪器状态。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7576" y="4709160"/>
            <a:ext cx="3611880" cy="1920240"/>
          </a:xfrm>
          <a:prstGeom prst="rect">
            <a:avLst/>
          </a:prstGeom>
          <a:solidFill>
            <a:srgbClr val="FFF3E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4" y="4800600"/>
            <a:ext cx="33924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ED7D31"/>
                </a:solidFill>
              </a:defRPr>
            </a:pPr>
            <a:r>
              <a:t>后续计划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探索对话功能集成到宝武聊天；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仪器知识库建立：说明书、图纸、应用文档、维修经验等。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